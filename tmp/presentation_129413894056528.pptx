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7"/>
    <p:sldId id="257" r:id="rId8"/>
    <p:sldId id="258" r:id="rId6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68B53-4FD0-48A7-866C-BC65B59EB9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E2BB7-3F10-4E59-BC8A-0A732B183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9BD86-E7F5-4F2A-A9B0-756A6054B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D7959B-5E1B-44F7-A8F5-5C039C2087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BED51-A763-42A6-B09A-8B427F5BEF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D60EB-770C-4F31-9716-2BAD71DD91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A2E29-30E5-4E8A-8297-85C4AD0E0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746E18-40E0-4822-A273-E8BC5BEF0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E2484-1FE5-4625-B119-B755C29FFC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6B1CA-B26D-44D7-A797-59BAB13B92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734F3-342F-4C25-8E8F-9486C0C180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D7B26-AF24-4B61-BB45-6DFB285E53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AA9E2D-AFBD-4B3B-88EA-B268FF2AC6A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148DEC-0239-4FB9-B402-20215A8B870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4CC2A0-1E79-4F8D-8484-8F54266F2E6C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F0AEA6-B959-47EF-B650-B5A47249F4B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41F9545-C396-4C77-A82C-5857BDDA499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E31F71-1F48-400E-8125-446C2BB03D7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9211E6F-49AA-49EC-B79C-5A87676BCBD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6F5A7E-3CAD-490F-BBA5-E20CDC2A4A9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C4E879-2913-47B9-913F-670A42A27DF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D6E512-46BE-44A9-8067-2D32AF01040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BDD29A-2325-4500-B8D0-7CFEFDB12B4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46828E9-5128-41E2-A552-0672C889B26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288201-BAAE-4CC7-A0BA-435F0CCFFA5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60BE6E-A841-4249-8347-07B6D5BED49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41196B-7A43-4B56-9DF4-EA4EA0F52F0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8B62BA-B2F6-42CF-A61A-1485A7FE152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50A292-82BE-4685-935D-8BDD547740D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120580-06D5-4983-BDF6-AFC1CD809596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501D12-772F-4FBF-B8C4-C40B4AE26EB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A167E4-F728-43DB-9DA2-67AA7B540F0D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5E88FD-A63C-4B80-818C-ED3378793EF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4FB794-D20F-46E8-903B-C5A6049249C5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E72E56-089C-4F13-BA64-B4F75ADDC77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EC5788-C40F-4182-911B-1ADE2CC9C87F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slideLayout" Target="../slideLayouts/slideLayout13.xml"/><Relationship Id="rId23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15.xml"/><Relationship Id="rId25" Type="http://schemas.openxmlformats.org/officeDocument/2006/relationships/slideLayout" Target="../slideLayouts/slideLayout16.xml"/><Relationship Id="rId26" Type="http://schemas.openxmlformats.org/officeDocument/2006/relationships/slideLayout" Target="../slideLayouts/slideLayout17.xml"/><Relationship Id="rId27" Type="http://schemas.openxmlformats.org/officeDocument/2006/relationships/slideLayout" Target="../slideLayouts/slideLayout18.xml"/><Relationship Id="rId28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20.xml"/><Relationship Id="rId3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F79504-9C1B-48E8-A834-F3FD037D5F9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0;p2"/>
          <p:cNvGrpSpPr/>
          <p:nvPr/>
        </p:nvGrpSpPr>
        <p:grpSpPr>
          <a:xfrm>
            <a:off x="1217160" y="0"/>
            <a:ext cx="10974600" cy="5774760"/>
            <a:chOff x="1217160" y="0"/>
            <a:chExt cx="10974600" cy="5774760"/>
          </a:xfrm>
        </p:grpSpPr>
        <p:pic>
          <p:nvPicPr>
            <p:cNvPr id="42" name="Google Shape;11;p2" descr=""/>
            <p:cNvPicPr/>
            <p:nvPr/>
          </p:nvPicPr>
          <p:blipFill>
            <a:blip r:embed="rId2"/>
            <a:stretch/>
          </p:blipFill>
          <p:spPr>
            <a:xfrm flipH="1">
              <a:off x="9448560" y="4579560"/>
              <a:ext cx="1828800" cy="11952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3" name="Google Shape;12;p2"/>
            <p:cNvGrpSpPr/>
            <p:nvPr/>
          </p:nvGrpSpPr>
          <p:grpSpPr>
            <a:xfrm>
              <a:off x="7619400" y="3662640"/>
              <a:ext cx="4572360" cy="1195200"/>
              <a:chOff x="7619400" y="3662640"/>
              <a:chExt cx="4572360" cy="1195200"/>
            </a:xfrm>
          </p:grpSpPr>
          <p:pic>
            <p:nvPicPr>
              <p:cNvPr id="44" name="Google Shape;13;p2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1036296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" name="Google Shape;14;p2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761940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6" name="Google Shape;15;p2"/>
            <p:cNvGrpSpPr/>
            <p:nvPr/>
          </p:nvGrpSpPr>
          <p:grpSpPr>
            <a:xfrm>
              <a:off x="6704280" y="2748240"/>
              <a:ext cx="4573080" cy="1195200"/>
              <a:chOff x="6704280" y="2748240"/>
              <a:chExt cx="4573080" cy="1195200"/>
            </a:xfrm>
          </p:grpSpPr>
          <p:pic>
            <p:nvPicPr>
              <p:cNvPr id="47" name="Google Shape;16;p2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44856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8" name="Google Shape;17;p2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670428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9" name="Google Shape;18;p2"/>
            <p:cNvGrpSpPr/>
            <p:nvPr/>
          </p:nvGrpSpPr>
          <p:grpSpPr>
            <a:xfrm>
              <a:off x="7619400" y="1831680"/>
              <a:ext cx="4572360" cy="1195200"/>
              <a:chOff x="7619400" y="1831680"/>
              <a:chExt cx="4572360" cy="1195200"/>
            </a:xfrm>
          </p:grpSpPr>
          <p:pic>
            <p:nvPicPr>
              <p:cNvPr id="50" name="Google Shape;19;p2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36296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1" name="Google Shape;20;p2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761940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2" name="Google Shape;21;p2"/>
            <p:cNvGrpSpPr/>
            <p:nvPr/>
          </p:nvGrpSpPr>
          <p:grpSpPr>
            <a:xfrm>
              <a:off x="1217160" y="916920"/>
              <a:ext cx="10060200" cy="1194840"/>
              <a:chOff x="1217160" y="916920"/>
              <a:chExt cx="10060200" cy="1194840"/>
            </a:xfrm>
          </p:grpSpPr>
          <p:pic>
            <p:nvPicPr>
              <p:cNvPr id="53" name="Google Shape;22;p2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94485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4" name="Google Shape;23;p2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670428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5" name="Google Shape;24;p2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396072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6" name="Google Shape;25;p2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12171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7" name="Google Shape;26;p2"/>
            <p:cNvGrpSpPr/>
            <p:nvPr/>
          </p:nvGrpSpPr>
          <p:grpSpPr>
            <a:xfrm>
              <a:off x="2131920" y="0"/>
              <a:ext cx="10059840" cy="1195200"/>
              <a:chOff x="2131920" y="0"/>
              <a:chExt cx="10059840" cy="1195200"/>
            </a:xfrm>
          </p:grpSpPr>
          <p:pic>
            <p:nvPicPr>
              <p:cNvPr id="58" name="Google Shape;27;p2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1036296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9" name="Google Shape;28;p2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761940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0" name="Google Shape;29;p2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487548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1" name="Google Shape;30;p2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213192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703240" y="2604240"/>
            <a:ext cx="676404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" name="Google Shape;32;p2"/>
          <p:cNvGrpSpPr/>
          <p:nvPr/>
        </p:nvGrpSpPr>
        <p:grpSpPr>
          <a:xfrm>
            <a:off x="360" y="4116960"/>
            <a:ext cx="5487120" cy="3026880"/>
            <a:chOff x="360" y="4116960"/>
            <a:chExt cx="5487120" cy="3026880"/>
          </a:xfrm>
        </p:grpSpPr>
        <p:grpSp>
          <p:nvGrpSpPr>
            <p:cNvPr id="64" name="Google Shape;33;p2"/>
            <p:cNvGrpSpPr/>
            <p:nvPr/>
          </p:nvGrpSpPr>
          <p:grpSpPr>
            <a:xfrm>
              <a:off x="360" y="5948640"/>
              <a:ext cx="4572360" cy="1195200"/>
              <a:chOff x="360" y="5948640"/>
              <a:chExt cx="4572360" cy="1195200"/>
            </a:xfrm>
          </p:grpSpPr>
          <p:pic>
            <p:nvPicPr>
              <p:cNvPr id="65" name="Google Shape;34;p2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274392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6" name="Google Shape;35;p2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67" name="Google Shape;36;p2"/>
            <p:cNvGrpSpPr/>
            <p:nvPr/>
          </p:nvGrpSpPr>
          <p:grpSpPr>
            <a:xfrm>
              <a:off x="915120" y="5031720"/>
              <a:ext cx="4572360" cy="1195200"/>
              <a:chOff x="915120" y="5031720"/>
              <a:chExt cx="4572360" cy="1195200"/>
            </a:xfrm>
          </p:grpSpPr>
          <p:pic>
            <p:nvPicPr>
              <p:cNvPr id="68" name="Google Shape;37;p2" descr=""/>
              <p:cNvPicPr/>
              <p:nvPr/>
            </p:nvPicPr>
            <p:blipFill>
              <a:blip r:embed="rId19"/>
              <a:stretch/>
            </p:blipFill>
            <p:spPr>
              <a:xfrm flipH="1">
                <a:off x="365868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9" name="Google Shape;38;p2" descr=""/>
              <p:cNvPicPr/>
              <p:nvPr/>
            </p:nvPicPr>
            <p:blipFill>
              <a:blip r:embed="rId20"/>
              <a:stretch/>
            </p:blipFill>
            <p:spPr>
              <a:xfrm flipH="1">
                <a:off x="91512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70" name="Google Shape;39;p2" descr=""/>
            <p:cNvPicPr/>
            <p:nvPr/>
          </p:nvPicPr>
          <p:blipFill>
            <a:blip r:embed="rId21"/>
            <a:stretch/>
          </p:blipFill>
          <p:spPr>
            <a:xfrm flipH="1">
              <a:off x="360" y="4116960"/>
              <a:ext cx="1828800" cy="1195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2"/>
    <p:sldLayoutId id="2147483663" r:id="rId23"/>
    <p:sldLayoutId id="2147483664" r:id="rId24"/>
    <p:sldLayoutId id="2147483665" r:id="rId25"/>
    <p:sldLayoutId id="2147483666" r:id="rId26"/>
    <p:sldLayoutId id="2147483667" r:id="rId27"/>
    <p:sldLayoutId id="2147483668" r:id="rId28"/>
    <p:sldLayoutId id="2147483669" r:id="rId29"/>
    <p:sldLayoutId id="2147483670" r:id="rId30"/>
    <p:sldLayoutId id="2147483671" r:id="rId31"/>
    <p:sldLayoutId id="2147483672" r:id="rId32"/>
    <p:sldLayoutId id="2147483673" r:id="rId3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09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11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12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3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4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15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16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7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8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9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0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21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2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4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25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26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27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8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9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30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1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32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4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E3CC17B8-3084-47B6-AB79-4A36546B30F6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74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5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6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77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8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9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0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81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2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3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4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5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86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7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8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9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90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91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92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3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94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95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6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97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sldNum" idx="5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1FB439D3-0753-4C23-850A-811B45182FF7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Giới Thiệu: Khí Hậu và Nông Nghiệp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800"/>
              <a:t>•  Nông nghiệp đóng vai trò cực kỳ quan trọng trong nền kinh tế Việt Nam, đảm bảo an ninh lương thực và sinh kế cho hàng triệu người dân.</a:t>
            </a:r>
          </a:p>
        </p:txBody>
      </p:sp>
    </p:spTree>
  </p:cSld>
  <p:clrMapOvr>
    <a:masterClrMapping/>
  </p:clrMapOvr>
  <p:transition spd="med" advClick="1">
    <p:wheel spokes="4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Các Xu Hướng Thời Tiết Chính tại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trung bình của Việt Nam đã tăng lên đáng kể trong vài thập kỷ qua, gây ra nhiều hệ lụy cho môi trường và sản xuất.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Tần suất và cường độ của các đợt nắng nóng kéo dài đã gia tăng, đặc biệt ở các vùng đồng bằng và ven biển.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Lượng mưa có xu hướng thay đổi thất thường, với những đợt mưa lớn tập trung xen kẽ các giai đoạn khô hạn kéo dài.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Số lượng các cơn bão và áp thấp nhiệt đới có thể không tăng, nhưng cường độ của chúng thường mạnh hơn và khó lường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Mực nước biển dâng là một xu hướng đáng lo ngại, đặc biệt ảnh hưởng đến các vùng ven biển và Đồng bằng sông Cửu Long.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hiện tượng thời tiết cực đoan như hạn hán, lũ lụt, sạt lở đất đang trở nên phổ biến hơn trên khắp cả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biến đổi khí hậu đang làm thay đổi rõ rệt các mùa vụ truyền thống, gây khó khăn cho việc lập kế hoạch canh tác.</a:t>
            </a:r>
          </a:p>
        </p:txBody>
      </p:sp>
      <p:pic>
        <p:nvPicPr>
          <p:cNvPr id="4" name="Picture 3" descr="b7540b53c12ab34573d2df91e2835e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newsfla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của Nhiệt Độ Tăng và Hạn Hán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trung bình tăng cao đang làm thay đổi chu kỳ sinh trưởng của nhiều loại cây trồng chủ lực, ảnh hưởng trực tiếp đến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đợt nắng nóng kéo dài gây ra tình trạng khô hạn nghiêm trọng, làm thiếu hụt nguồn nước tưới cho nông nghiệp.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Hạn hán làm giảm độ ẩm của đất, khiến đất đai bị thoái hóa, nứt nẻ và khó khăn trong việc canh tác.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vùng nông nghiệp trọng điểm như Tây Nguyên và Nam Trung Bộ thường xuyên phải đối mặt với tình trạng thiếu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Hạn hán cũng làm tăng nguy cơ cháy rừng, ảnh hưởng đến các vùng canh tác gần rừng và đa dạng sinh học.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Cây trồng và vật nuôi đều chịu stress nhiệt, làm giảm khả năng sinh sản, tăng nguy cơ mắc bệnh và giảm chất lượng sản phẩm.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phải đầu tư nhiều hơn vào hệ thống tưới tiêu và tìm kiếm các giống cây trồng chịu hạn tốt hơn để thích nghi.</a:t>
            </a:r>
          </a:p>
        </p:txBody>
      </p:sp>
      <p:pic>
        <p:nvPicPr>
          <p:cNvPr id="4" name="Picture 3" descr="e1a7d13154a73a4ff91cfec5e6af86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mb dir="ver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Thực Trạng Mưa Lớn và Ngập Lụt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Lượng mưa lớn tập trung trong thời gian ngắn gây ra lũ quét và sạt lở đất ở các khu vực miền núi, phá hủy hoa màu và cơ sở hạ tầng.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Ngập lụt kéo dài làm úng ngập diện tích lớn đất nông nghiệp, gây thiệt hại nghiêm trọng cho lúa và các cây trồng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Nước lũ cuốn trôi phù sa, làm xói mòn đất đai và rửa trôi các chất dinh dưỡng cần thiết cho cây trồng.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Hệ thống đê điều, kênh mương thủy lợi thường bị hư hại do lũ lụt, ảnh hưởng đến khả năng kiểm soát nước trong tương lai.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bệnh hại cây trồng và vật nuôi có thể bùng phát mạnh sau các đợt ngập lụt do môi trường ẩm ướt và ô nhiễm.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mất mùa và gặp khó khăn trong việc tái sản xuất, dẫn đến giảm thu nhập và tăng nguy cơ nghèo đói.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Ngập lụt còn ảnh hưởng đến việc vận chuyển nông sản, gây khó khăn cho việc tiêu thụ và phân phối hàng hóa.</a:t>
            </a:r>
          </a:p>
        </p:txBody>
      </p:sp>
      <p:pic>
        <p:nvPicPr>
          <p:cNvPr id="4" name="Picture 3" descr="8593657dd464f0fe32a18bb4f4ca9e9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blinds dir="ver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Thay Đổi Mùa Vụ và Hiện Tượng Thời Tiết Bất Thường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thay đổi thất thường của các mùa vụ khiến nông dân khó khăn trong việc xác định thời điểm gieo trồng và thu hoạch.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Mưa trái mùa hoặc mưa muộn có thể làm hỏng vụ mùa đang trong giai đoạn phát triển hoặc thu hoạch, đặc biệt là cây ăn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đợt không khí lạnh bất thường xuất hiện vào mùa khô hoặc mùa nóng gây thiệt hại cho cây trồng nhiệt đới và thủy sản.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Sương muối và rét đậm kéo dài ở miền Bắc ảnh hưởng nghiêm trọng đến cây trồng vụ đông và chăn nuôi gia súc.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Hiện tượng El Nino và La Nina gây ra các biến động khí hậu cực đoan, từ hạn hán đến lũ lụt trên diện rộng.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Thời tiết bất thường làm tăng rủi ro cho sản xuất nông nghiệp, buộc nông dân phải liên tục điều chỉnh kỹ thuật canh tác.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thiếu ổn định về thời tiết gây áp lực lớn lên hệ thống dự báo khí tượng thủy văn, yêu cầu độ chính xác cao hơn.</a:t>
            </a:r>
          </a:p>
        </p:txBody>
      </p:sp>
      <p:pic>
        <p:nvPicPr>
          <p:cNvPr id="4" name="Picture 3" descr="8c5777ca10658a0d545f926975313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randomBar dir="horz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Nước Biển Dâng và Thách Thức Xâm Nhập Mặn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Mực nước biển dâng cao đang đẩy ranh giới nước mặn vào sâu trong nội đồng, đặc biệt tại Đồng bằng sông Cửu Long.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Xâm nhập mặn làm nhiễm mặn nguồn nước ngọt, ảnh hưởng nghiêm trọng đến việc tưới tiêu cho các loại cây trồng.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diện tích đất canh tác lúa, cây ăn trái và nuôi trồng thủy sản nước ngọt bị ảnh hưởng nặng nề bởi độ mặn tăng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buộc phải chuyển đổi cơ cấu cây trồng, vật nuôi sang các loài chịu mặn tốt hơn, nhưng không phải lúc nào cũng hiệu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Cơ sở hạ tầng thủy lợi như cống, đập phải được nâng cấp để ngăn chặn nước mặn, đòi hỏi đầu tư lớn và công nghệ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Xâm nhập mặn làm giảm năng suất cây trồng, tăng chi phí sản xuất và đe dọa an ninh lương thực khu vực phía Nam.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Hiện tượng này cũng ảnh hưởng đến nguồn nước sinh hoạt của người dân, gây ra nhiều khó khăn trong cuộc sống thường ngày.</a:t>
            </a:r>
          </a:p>
        </p:txBody>
      </p:sp>
      <p:pic>
        <p:nvPicPr>
          <p:cNvPr id="4" name="Picture 3" descr="a53676c1ea6b50c5911bbb00dcdd57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Tổng Thể Lên Cây Trồng và Vật Nuôi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Năng suất và chất lượng của nhiều loại cây trồng chủ lực như lúa, cà phê, hồ tiêu bị suy giảm do thời tiết khắc nghiệt.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Biến đổi khí hậu tạo điều kiện thuận lợi cho sự phát triển và lây lan của các loại sâu bệnh hại mới, khó kiểm soát.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cao gây stress nhiệt cho vật nuôi, làm giảm khả năng sinh sản, tăng tỷ lệ mắc bệnh và tử vong.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vùng chăn nuôi gia súc, gia cầm phải đối mặt với dịch bệnh bùng phát thường xuyên hơn do môi trường thay đổi.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Nguồn thức ăn tự nhiên cho vật nuôi bị ảnh hưởng bởi hạn hán và lũ lụt, gây thiếu hụt và tăng chi phí chăn nuôi.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thay đổi môi trường sống làm ảnh hưởng đến đa dạng sinh học, đe dọa các loài bản địa và hệ sinh thái nông nghiệp.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phải đối mặt với chi phí sản xuất tăng cao và rủi ro lớn hơn, ảnh hưởng đến lợi nhuận và cuộc sống.</a:t>
            </a:r>
          </a:p>
        </p:txBody>
      </p:sp>
      <p:pic>
        <p:nvPicPr>
          <p:cNvPr id="4" name="Picture 3" descr="65f10a581a2f1214650ec3a78cf0b3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Các Giải Pháp Thích Ứng Trong Nông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và ứng dụng các giống cây trồng, vật nuôi có khả năng chịu hạn, chịu mặn và chống chịu sâu bệnh tốt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Áp dụng các kỹ thuật tưới tiêu tiết kiệm nước như tưới nhỏ giọt, tưới phun mưa và quản lý nước thông minh.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và nâng cấp hệ thống thủy lợi, đê điều, cống ngăn mặn để chủ động ứng phó với biến đổi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Đa dạng hóa cây trồng và vật nuôi, chuyển đổi cơ cấu sản xuất phù hợp với điều kiện khí hậu từng vùng.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Tăng cường ứng dụng công nghệ thông tin vào dự báo thời tiết, cảnh báo sớm để nông dân chủ động kế hoạch sản xuất.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các mô hình nông nghiệp thông minh, nông nghiệp hữu cơ, nông nghiệp tuần hoàn để tăng cường tính bền vững.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Khuyến khích sử dụng năng lượng tái tạo và các phương pháp canh tác thân thiện với môi trường để giảm phát thải.</a:t>
            </a:r>
          </a:p>
        </p:txBody>
      </p:sp>
      <p:pic>
        <p:nvPicPr>
          <p:cNvPr id="4" name="Picture 3" descr="592f20104df9140340764fda7dbc7f8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Chính Sách và Hỗ Trợ Phát Triển Bền Vững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Chính phủ cần ban hành các chính sách khuyến khích và hỗ trợ nông dân trong việc thích ứng với biến đổi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Đầu tư vào nghiên cứu khoa học và chuyển giao công nghệ mới để nâng cao năng lực sản xuất và khả năng chống chịu.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Tổ chức các chương trình đào tạo, tập huấn cho nông dân về kỹ thuật canh tác thích ứng và quản lý rủi ro.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quỹ hỗ trợ thiên tai và chính sách bảo hiểm nông nghiệp để giảm thiểu thiệt hại cho người dân.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Tăng cường hợp tác quốc tế để học hỏi kinh nghiệm, tiếp cận nguồn vốn và công nghệ tiên tiến từ các nước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chuỗi giá trị nông sản bền vững, đảm bảo đầu ra ổn định và nâng cao giá trị sản phẩm cho nông dân.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Đẩy mạnh công tác truyền thông, nâng cao nhận thức cộng đồng về tầm quan trọng của việc ứng phó với biến đổi khí hậu.</a:t>
            </a:r>
          </a:p>
        </p:txBody>
      </p:sp>
      <p:pic>
        <p:nvPicPr>
          <p:cNvPr id="4" name="Picture 3" descr="d3627b7c4abc83a19e73b37e4ea037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vert" dir="ou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Tương Lai và Hướng Đi Cho Nông Nghiệp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nghiệp Việt Nam cần hướng tới mô hình sản xuất bền vững, có khả năng chống chịu cao trước các cú sốc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nền nông nghiệp xanh, thân thiện môi trường, giảm thiểu phát thải và sử dụng tài nguyên hiệu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Đẩy mạnh ứng dụng công nghệ cao và nông nghiệp 4.0 để tối ưu hóa quy trình sản xuất và nâng cao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Chú trọng vào việc bảo vệ và phục hồi các hệ sinh thái tự nhiên, đặc biệt là rừng ngập mặn và hệ thống sông ngòi.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Nâng cao năng lực dự báo và cảnh báo sớm, giúp nông dân có đủ thời gian chuẩn bị và ứng phó hiệu quả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Đảm bảo an ninh lương thực quốc gia trong bối cảnh biến đổi khí hậu ngày càng phức tạp và khó lường.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cộng đồng nông dân đoàn kết, có kiến thức và kỹ năng để chủ động vượt qua mọi thách thức trong tương lai.</a:t>
            </a:r>
          </a:p>
        </p:txBody>
      </p:sp>
      <p:pic>
        <p:nvPicPr>
          <p:cNvPr id="4" name="Picture 3" descr="7fe3dd149aaa1c74fc007dc4296f5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ver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2026-03-20T10:28:25Z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