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7"/>
    <p:sldId id="257" r:id="rId8"/>
    <p:sldId id="258" r:id="rId6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6BCA7D-46B9-4688-B099-1D531E32DA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68F937-E7FA-4F2E-8D86-669D8C4E2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B4E84-964C-46EA-82F9-4445F97AD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8FB66-1072-440C-832A-8DC3A9C33C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2DC401-FDA1-41A4-8F17-9E9A806AEF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C62C85-1AEB-4F50-B5C6-1BA78E4AB5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D4034D-7216-471D-A4F6-4C742DC35A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84991-CEFF-4AD8-8CE4-882013898C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536638-39A7-45B7-9AF7-F2871F9E3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6071E-6F8A-4EC6-BEDA-EC8C841669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31FEA-F4BC-43D5-97F5-51B4D3B121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A6FC2-07E3-43EB-8D85-2BFC8AD081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AE619C2-75E1-4F23-9E59-7DEC04778673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62C57A-3694-488A-BC59-50E17D59A82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EE46900-5210-4F17-9FF1-5C66E01BFCBD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390EC81-D768-4698-9830-75CCBD699D8B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E6FF34-D02C-4D84-8E08-FAC596C0744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AB51F7D-1120-4792-B095-0F8A713F7BE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09AABFC-7C86-4915-B8F2-9941997A4CD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5DF1F0-E739-46A2-BE0B-F1D68EF00A06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A882107-CE37-409E-A198-9175D9CE5DD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06380E-3D01-42EC-A4F9-1229BF42AC3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8E2A0BC-D9E9-4021-877E-9777CFF1A2E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52FF7F1-3A65-4D85-9896-7A761CE61E1F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CF31BD-3866-459D-989B-A92D5658226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E27B9D-85C9-4FBF-BC54-AB14A084B24A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CC1383-1D73-44D6-A700-A812F9A5880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F90D40-D1D3-42F3-80C1-67E24E3A95C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564316-4BBD-416A-B497-C6E8D1697ABA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865060-3DD2-40E4-A0DB-BAE2F2A3BEB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F11C0-0A6D-4E18-B9A6-8F6511364F6E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34B89B-8EE8-41D4-9BC1-BA152C191DA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E013FB-1947-4B67-A4F3-FA8C8E29EFF6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47FA1A-AC35-4DD2-96B7-43D37DB2029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9EB954-029E-4024-922C-7306171EE75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1D9822-AACB-4105-A4CD-476DB28FBF0B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E67332-AB08-42FB-B2CA-E3BCA345702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;p2"/>
          <p:cNvSpPr/>
          <p:nvPr/>
        </p:nvSpPr>
        <p:spPr>
          <a:xfrm>
            <a:off x="10059120" y="876600"/>
            <a:ext cx="1731960" cy="57708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" name="Google Shape;11;p2"/>
          <p:cNvGrpSpPr/>
          <p:nvPr/>
        </p:nvGrpSpPr>
        <p:grpSpPr>
          <a:xfrm>
            <a:off x="0" y="-9000"/>
            <a:ext cx="11547720" cy="6866640"/>
            <a:chOff x="0" y="-9000"/>
            <a:chExt cx="11547720" cy="6866640"/>
          </a:xfrm>
        </p:grpSpPr>
        <p:sp>
          <p:nvSpPr>
            <p:cNvPr id="43" name="Google Shape;12;p2"/>
            <p:cNvSpPr/>
            <p:nvPr/>
          </p:nvSpPr>
          <p:spPr>
            <a:xfrm>
              <a:off x="0" y="360"/>
              <a:ext cx="4699800" cy="685728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13;p2"/>
            <p:cNvSpPr/>
            <p:nvPr/>
          </p:nvSpPr>
          <p:spPr>
            <a:xfrm flipH="1" rot="10800000">
              <a:off x="4689720" y="-9000"/>
              <a:ext cx="6857640" cy="6857640"/>
            </a:xfrm>
            <a:prstGeom prst="rtTriangle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" name="Google Shape;14;p2"/>
          <p:cNvGrpSpPr/>
          <p:nvPr/>
        </p:nvGrpSpPr>
        <p:grpSpPr>
          <a:xfrm>
            <a:off x="0" y="1453680"/>
            <a:ext cx="11796480" cy="3948840"/>
            <a:chOff x="0" y="1453680"/>
            <a:chExt cx="11796480" cy="3948840"/>
          </a:xfrm>
        </p:grpSpPr>
        <p:sp>
          <p:nvSpPr>
            <p:cNvPr id="46" name="Google Shape;15;p2"/>
            <p:cNvSpPr/>
            <p:nvPr/>
          </p:nvSpPr>
          <p:spPr>
            <a:xfrm flipV="1">
              <a:off x="0" y="1452960"/>
              <a:ext cx="7851240" cy="39488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Google Shape;16;p2"/>
            <p:cNvSpPr/>
            <p:nvPr/>
          </p:nvSpPr>
          <p:spPr>
            <a:xfrm flipV="1">
              <a:off x="7847640" y="1452960"/>
              <a:ext cx="3948840" cy="394884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" name="Google Shape;17;p2"/>
          <p:cNvGrpSpPr/>
          <p:nvPr/>
        </p:nvGrpSpPr>
        <p:grpSpPr>
          <a:xfrm>
            <a:off x="4903200" y="5703840"/>
            <a:ext cx="7306200" cy="577440"/>
            <a:chOff x="4903200" y="5703840"/>
            <a:chExt cx="7306200" cy="577440"/>
          </a:xfrm>
        </p:grpSpPr>
        <p:sp>
          <p:nvSpPr>
            <p:cNvPr id="49" name="Google Shape;18;p2"/>
            <p:cNvSpPr/>
            <p:nvPr/>
          </p:nvSpPr>
          <p:spPr>
            <a:xfrm rot="10800000">
              <a:off x="4903200" y="610668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50" name="Google Shape;19;p2"/>
            <p:cNvGrpSpPr/>
            <p:nvPr/>
          </p:nvGrpSpPr>
          <p:grpSpPr>
            <a:xfrm>
              <a:off x="4906080" y="5703840"/>
              <a:ext cx="7303320" cy="405720"/>
              <a:chOff x="4906080" y="5703840"/>
              <a:chExt cx="7303320" cy="405720"/>
            </a:xfrm>
          </p:grpSpPr>
          <p:sp>
            <p:nvSpPr>
              <p:cNvPr id="51" name="Google Shape;20;p2"/>
              <p:cNvSpPr/>
              <p:nvPr/>
            </p:nvSpPr>
            <p:spPr>
              <a:xfrm flipH="1">
                <a:off x="5302440" y="5703840"/>
                <a:ext cx="690660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" name="Google Shape;21;p2"/>
              <p:cNvSpPr/>
              <p:nvPr/>
            </p:nvSpPr>
            <p:spPr>
              <a:xfrm flipH="1">
                <a:off x="4905720" y="57038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040" y="1454040"/>
            <a:ext cx="7156800" cy="3948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82;p6"/>
          <p:cNvGrpSpPr/>
          <p:nvPr/>
        </p:nvGrpSpPr>
        <p:grpSpPr>
          <a:xfrm>
            <a:off x="0" y="0"/>
            <a:ext cx="9429480" cy="1769400"/>
            <a:chOff x="0" y="0"/>
            <a:chExt cx="9429480" cy="1769400"/>
          </a:xfrm>
        </p:grpSpPr>
        <p:sp>
          <p:nvSpPr>
            <p:cNvPr id="92" name="Google Shape;83;p6"/>
            <p:cNvSpPr/>
            <p:nvPr/>
          </p:nvSpPr>
          <p:spPr>
            <a:xfrm>
              <a:off x="8390160" y="168480"/>
              <a:ext cx="1039320" cy="34632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93" name="Google Shape;84;p6"/>
            <p:cNvGrpSpPr/>
            <p:nvPr/>
          </p:nvGrpSpPr>
          <p:grpSpPr>
            <a:xfrm>
              <a:off x="0" y="0"/>
              <a:ext cx="9007560" cy="1769400"/>
              <a:chOff x="0" y="0"/>
              <a:chExt cx="9007560" cy="1769400"/>
            </a:xfrm>
          </p:grpSpPr>
          <p:sp>
            <p:nvSpPr>
              <p:cNvPr id="94" name="Google Shape;85;p6"/>
              <p:cNvSpPr/>
              <p:nvPr/>
            </p:nvSpPr>
            <p:spPr>
              <a:xfrm flipV="1">
                <a:off x="0" y="-360"/>
                <a:ext cx="7245000" cy="176940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5" name="Google Shape;86;p6"/>
              <p:cNvSpPr/>
              <p:nvPr/>
            </p:nvSpPr>
            <p:spPr>
              <a:xfrm flipV="1">
                <a:off x="7238160" y="-360"/>
                <a:ext cx="1769400" cy="176940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6" name="Google Shape;87;p6"/>
            <p:cNvGrpSpPr/>
            <p:nvPr/>
          </p:nvGrpSpPr>
          <p:grpSpPr>
            <a:xfrm>
              <a:off x="0" y="507600"/>
              <a:ext cx="9429480" cy="1028520"/>
              <a:chOff x="0" y="507600"/>
              <a:chExt cx="9429480" cy="1028520"/>
            </a:xfrm>
          </p:grpSpPr>
          <p:sp>
            <p:nvSpPr>
              <p:cNvPr id="97" name="Google Shape;88;p6"/>
              <p:cNvSpPr/>
              <p:nvPr/>
            </p:nvSpPr>
            <p:spPr>
              <a:xfrm flipV="1">
                <a:off x="0" y="506880"/>
                <a:ext cx="8404560" cy="10285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" name="Google Shape;89;p6"/>
              <p:cNvSpPr/>
              <p:nvPr/>
            </p:nvSpPr>
            <p:spPr>
              <a:xfrm flipV="1">
                <a:off x="8400960" y="506880"/>
                <a:ext cx="1028520" cy="1028520"/>
              </a:xfrm>
              <a:prstGeom prst="rtTriangl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99" name="Google Shape;90;p6"/>
          <p:cNvGrpSpPr/>
          <p:nvPr/>
        </p:nvGrpSpPr>
        <p:grpSpPr>
          <a:xfrm>
            <a:off x="9262440" y="5963040"/>
            <a:ext cx="2936160" cy="893880"/>
            <a:chOff x="9262440" y="5963040"/>
            <a:chExt cx="2936160" cy="893880"/>
          </a:xfrm>
        </p:grpSpPr>
        <p:sp>
          <p:nvSpPr>
            <p:cNvPr id="100" name="Google Shape;91;p6"/>
            <p:cNvSpPr/>
            <p:nvPr/>
          </p:nvSpPr>
          <p:spPr>
            <a:xfrm rot="10800000">
              <a:off x="9262440" y="659772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1" name="Google Shape;92;p6"/>
            <p:cNvGrpSpPr/>
            <p:nvPr/>
          </p:nvGrpSpPr>
          <p:grpSpPr>
            <a:xfrm>
              <a:off x="9474120" y="5963040"/>
              <a:ext cx="2721240" cy="893880"/>
              <a:chOff x="9474120" y="5963040"/>
              <a:chExt cx="2721240" cy="893880"/>
            </a:xfrm>
          </p:grpSpPr>
          <p:sp>
            <p:nvSpPr>
              <p:cNvPr id="102" name="Google Shape;93;p6"/>
              <p:cNvSpPr/>
              <p:nvPr/>
            </p:nvSpPr>
            <p:spPr>
              <a:xfrm flipH="1">
                <a:off x="10365120" y="596304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3" name="Google Shape;94;p6"/>
              <p:cNvSpPr/>
              <p:nvPr/>
            </p:nvSpPr>
            <p:spPr>
              <a:xfrm flipH="1">
                <a:off x="9474120" y="596304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4" name="Google Shape;95;p6"/>
            <p:cNvGrpSpPr/>
            <p:nvPr/>
          </p:nvGrpSpPr>
          <p:grpSpPr>
            <a:xfrm>
              <a:off x="9265320" y="6195240"/>
              <a:ext cx="2933280" cy="405720"/>
              <a:chOff x="9265320" y="6195240"/>
              <a:chExt cx="2933280" cy="405720"/>
            </a:xfrm>
          </p:grpSpPr>
          <p:sp>
            <p:nvSpPr>
              <p:cNvPr id="105" name="Google Shape;96;p6"/>
              <p:cNvSpPr/>
              <p:nvPr/>
            </p:nvSpPr>
            <p:spPr>
              <a:xfrm flipH="1">
                <a:off x="9663480" y="6195240"/>
                <a:ext cx="253512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Google Shape;97;p6"/>
              <p:cNvSpPr/>
              <p:nvPr/>
            </p:nvSpPr>
            <p:spPr>
              <a:xfrm flipH="1">
                <a:off x="9264960" y="61952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85400" y="523080"/>
            <a:ext cx="7010640" cy="102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1085400" y="2050200"/>
            <a:ext cx="4503600" cy="363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5861160" y="2050200"/>
            <a:ext cx="4503600" cy="363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4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F61364A-D0F0-48E5-8C04-EE022EF6D08D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63;p10"/>
          <p:cNvGrpSpPr/>
          <p:nvPr/>
        </p:nvGrpSpPr>
        <p:grpSpPr>
          <a:xfrm>
            <a:off x="0" y="0"/>
            <a:ext cx="2936520" cy="893880"/>
            <a:chOff x="0" y="0"/>
            <a:chExt cx="2936520" cy="893880"/>
          </a:xfrm>
        </p:grpSpPr>
        <p:sp>
          <p:nvSpPr>
            <p:cNvPr id="148" name="Google Shape;164;p10"/>
            <p:cNvSpPr/>
            <p:nvPr/>
          </p:nvSpPr>
          <p:spPr>
            <a:xfrm>
              <a:off x="2411640" y="84960"/>
              <a:ext cx="524880" cy="17496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9" name="Google Shape;165;p10"/>
            <p:cNvGrpSpPr/>
            <p:nvPr/>
          </p:nvGrpSpPr>
          <p:grpSpPr>
            <a:xfrm>
              <a:off x="3240" y="0"/>
              <a:ext cx="2720880" cy="893880"/>
              <a:chOff x="3240" y="0"/>
              <a:chExt cx="2720880" cy="893880"/>
            </a:xfrm>
          </p:grpSpPr>
          <p:sp>
            <p:nvSpPr>
              <p:cNvPr id="150" name="Google Shape;166;p10"/>
              <p:cNvSpPr/>
              <p:nvPr/>
            </p:nvSpPr>
            <p:spPr>
              <a:xfrm flipV="1">
                <a:off x="3240" y="-36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1" name="Google Shape;167;p10"/>
              <p:cNvSpPr/>
              <p:nvPr/>
            </p:nvSpPr>
            <p:spPr>
              <a:xfrm flipV="1">
                <a:off x="1829880" y="-36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2" name="Google Shape;168;p10"/>
            <p:cNvGrpSpPr/>
            <p:nvPr/>
          </p:nvGrpSpPr>
          <p:grpSpPr>
            <a:xfrm>
              <a:off x="0" y="255960"/>
              <a:ext cx="2932920" cy="405720"/>
              <a:chOff x="0" y="255960"/>
              <a:chExt cx="2932920" cy="405720"/>
            </a:xfrm>
          </p:grpSpPr>
          <p:sp>
            <p:nvSpPr>
              <p:cNvPr id="153" name="Google Shape;169;p10"/>
              <p:cNvSpPr/>
              <p:nvPr/>
            </p:nvSpPr>
            <p:spPr>
              <a:xfrm flipV="1">
                <a:off x="0" y="255240"/>
                <a:ext cx="2535480" cy="4057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Google Shape;170;p10"/>
              <p:cNvSpPr/>
              <p:nvPr/>
            </p:nvSpPr>
            <p:spPr>
              <a:xfrm flipV="1">
                <a:off x="2527200" y="255240"/>
                <a:ext cx="405720" cy="405720"/>
              </a:xfrm>
              <a:prstGeom prst="rtTriangl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55" name="Google Shape;171;p10"/>
          <p:cNvGrpSpPr/>
          <p:nvPr/>
        </p:nvGrpSpPr>
        <p:grpSpPr>
          <a:xfrm>
            <a:off x="9262440" y="5963040"/>
            <a:ext cx="2936160" cy="893880"/>
            <a:chOff x="9262440" y="5963040"/>
            <a:chExt cx="2936160" cy="893880"/>
          </a:xfrm>
        </p:grpSpPr>
        <p:sp>
          <p:nvSpPr>
            <p:cNvPr id="156" name="Google Shape;172;p10"/>
            <p:cNvSpPr/>
            <p:nvPr/>
          </p:nvSpPr>
          <p:spPr>
            <a:xfrm rot="10800000">
              <a:off x="9262440" y="659772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7" name="Google Shape;173;p10"/>
            <p:cNvGrpSpPr/>
            <p:nvPr/>
          </p:nvGrpSpPr>
          <p:grpSpPr>
            <a:xfrm>
              <a:off x="9474120" y="5963040"/>
              <a:ext cx="2721240" cy="893880"/>
              <a:chOff x="9474120" y="5963040"/>
              <a:chExt cx="2721240" cy="893880"/>
            </a:xfrm>
          </p:grpSpPr>
          <p:sp>
            <p:nvSpPr>
              <p:cNvPr id="158" name="Google Shape;174;p10"/>
              <p:cNvSpPr/>
              <p:nvPr/>
            </p:nvSpPr>
            <p:spPr>
              <a:xfrm flipH="1">
                <a:off x="10365120" y="596304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Google Shape;175;p10"/>
              <p:cNvSpPr/>
              <p:nvPr/>
            </p:nvSpPr>
            <p:spPr>
              <a:xfrm flipH="1">
                <a:off x="9474120" y="596304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0" name="Google Shape;176;p10"/>
            <p:cNvGrpSpPr/>
            <p:nvPr/>
          </p:nvGrpSpPr>
          <p:grpSpPr>
            <a:xfrm>
              <a:off x="9265320" y="6195240"/>
              <a:ext cx="2933280" cy="405720"/>
              <a:chOff x="9265320" y="6195240"/>
              <a:chExt cx="2933280" cy="405720"/>
            </a:xfrm>
          </p:grpSpPr>
          <p:sp>
            <p:nvSpPr>
              <p:cNvPr id="161" name="Google Shape;177;p10"/>
              <p:cNvSpPr/>
              <p:nvPr/>
            </p:nvSpPr>
            <p:spPr>
              <a:xfrm flipH="1">
                <a:off x="9663480" y="6195240"/>
                <a:ext cx="253512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2" name="Google Shape;178;p10"/>
              <p:cNvSpPr/>
              <p:nvPr/>
            </p:nvSpPr>
            <p:spPr>
              <a:xfrm flipH="1">
                <a:off x="9264960" y="61952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63" name="PlaceHolder 1"/>
          <p:cNvSpPr>
            <a:spLocks noGrp="1"/>
          </p:cNvSpPr>
          <p:nvPr>
            <p:ph type="sldNum" idx="5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FEBBD2C-CC93-46B6-BF96-0D0512EAB2FB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Mở đầu: Truyện Kiều - Kiệt tác văn học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800"/>
              <a:t>Truyện Kiều, hay Đoạn Trường Tân Thanh, là một trong những tác phẩm văn học vĩ đại nhất của Việt Nam.</a:t>
            </a:r>
          </a:p>
        </p:txBody>
      </p:sp>
    </p:spTree>
  </p:cSld>
  <p:clrMapOvr>
    <a:masterClrMapping/>
  </p:clrMapOvr>
  <p:transition spd="med" advClick="1">
    <p:split orient="horz"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Tác giả: Nguyễn Du - Danh nhân văn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Nguyễn Du (1765-1820) là đại thi hào của dân tộc Việt Nam.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Ông sinh ra trong gia đình quý tộc, có truyền thống khoa bảng và văn học.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đời ông chứng kiến nhiều biến động lịch sử lớn của đất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Những trải nghiệm cá nhân và xã hội sâu sắc đã hun đúc nên tài năng và tấm lòng nhân đạo của Nguyễn Du.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Ông được UNESCO công nhận là Danh nhân văn hóa thế giới.</a:t>
            </a:r>
          </a:p>
        </p:txBody>
      </p:sp>
      <p:pic>
        <p:nvPicPr>
          <p:cNvPr id="4" name="Picture 3" descr="446ebb3c317be56e144bf1e5d8932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Hoàn cảnh sáng tác: Giao thời lịch sử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được sáng tác vào cuối thế kỷ 18, đầu thế kỷ 19.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giai đoạn lịch sử đầy biến động của Việt Nam: sự sụp đổ của triều Lê, phong trào Tây Sơn, và sự thành lập nhà Nguyễn.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Xã hội phong kiến suy tàn, nhiều giá trị đạo đức lung lay.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phản ánh sự bất công, số phận con người nhỏ bé trước guồng quay định mệnh.</a:t>
            </a:r>
          </a:p>
        </p:txBody>
      </p:sp>
      <p:pic>
        <p:nvPicPr>
          <p:cNvPr id="4" name="Picture 3" descr="b3d3f0a2ff8d3de7457b3b112608ae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Nguồn gốc: Kim Vân Kiều Truyện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được Nguyễn Du chuyển thể và sáng tạo dựa trên tiểu thuyết chương hồi của Trung Quốc.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gốc là 'Kim Vân Kiều Truyện' của Thanh Tâm Tài Nhân (Trung Quốc).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Nguyễn Du đã Việt hóa câu chuyện, thổi hồn Việt vào từng nhân vật, cảnh vật.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Ông không chỉ dịch mà còn sáng tạo, thêm thắt, và nâng tầm giá trị tư tưởng, nghệ thuật.</a:t>
            </a:r>
          </a:p>
        </p:txBody>
      </p:sp>
      <p:pic>
        <p:nvPicPr>
          <p:cNvPr id="4" name="Picture 3" descr="7e9dadd7241ea4bab0f38955442ef9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blinds dir="horz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Giá trị cốt lõi: Tiếng nói nhân đạo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Giá trị nhân đạo là sợi chỉ đỏ xuyên suốt Truyện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xót xa cho số phận con người, đặc biệt là phụ nữ trong xã hội cũ.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Ca ngợi tình yêu tự do, khát vọng hạnh phúc và phẩm giá con người.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Lên án xã hội bất công, những thế lực tàn bạo chà đạp lên hạnh phúc cá nhân.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Đề cao lòng vị tha, sự hướng thiện và niềm tin vào công lý.</a:t>
            </a:r>
          </a:p>
        </p:txBody>
      </p:sp>
      <p:pic>
        <p:nvPicPr>
          <p:cNvPr id="4" name="Picture 3" descr="92c3d1ed37aeacf09aea49fdb94de38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ver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Cấu trúc tác phẩm: 3254 câu thơ lục bát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là một trường ca dài gồm 3254 câu thơ lục bát.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Thể thơ lục bát giúp câu chuyện dễ đi vào lòng người, dễ nhớ, dễ thuộc.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Cấu trúc thường được chia làm nhiều phần lớn: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Gặp gỡ và đính ước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 biến và lưu lạc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Đoàn tụ và cuối đời</a:t>
            </a:r>
          </a:p>
        </p:txBody>
      </p:sp>
      <p:pic>
        <p:nvPicPr>
          <p:cNvPr id="4" name="Picture 3" descr="3f84e1b95a99f0afc3472681948291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Nghệ thuật thơ ca: Đỉnh cao lục bát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Nguyễn Du đã đưa thể thơ lục bát đạt đến đỉnh cao chói lọi.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Ngôn ngữ tinh tế, giàu hình ảnh, biểu cảm.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Sử dụng linh hoạt các biện pháp tu từ: so sánh, ẩn dụ, điệp ngữ...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Nhạc điệu hài hòa, uyển chuyển, phù hợp với tâm trạng và cảnh vật.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một kho tàng từ vựng và câu thơ kinh điển của tiếng Việt.</a:t>
            </a:r>
          </a:p>
        </p:txBody>
      </p:sp>
      <p:pic>
        <p:nvPicPr>
          <p:cNvPr id="4" name="Picture 3" descr="11c18d7ce9ff7b56edfff1e417c73b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1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Mở đầu câu chuyện: Tiết Thanh minh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Câu chuyện mở đầu bằng cảnh gia đình Kiều đi tảo mộ vào tiết Thanh minh.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Tiết Thanh minh là dịp đoàn viên, tưởng nhớ tổ tiên.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bối cảnh lãng mạn, mở ra cuộc gặp gỡ định mệnh.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Cảnh sắc thiên nhiên tươi đẹp, báo hiệu một khởi đầu đầy hứa hẹn.</a:t>
            </a:r>
          </a:p>
        </p:txBody>
      </p:sp>
      <p:pic>
        <p:nvPicPr>
          <p:cNvPr id="4" name="Picture 3" descr="aa09c166981e499a639ec60b474c24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ver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Gia đình Thúy Kiều: Nề nếp, gia giáo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Thúy Kiều cùng hai em là Thúy Vân và Vương Quan sống trong gia đình nề nếp.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Cha mẹ là viên ngoại Vương và phu nhân Vương.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 đình phong lưu, có học thức, là kiểu mẫu của xã hội thời bấy giờ.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Ba chị em đều tài sắc vẹn toàn, nhưng Kiều là người nổi bật nhất.</a:t>
            </a:r>
          </a:p>
        </p:txBody>
      </p:sp>
      <p:pic>
        <p:nvPicPr>
          <p:cNvPr id="4" name="Picture 3" descr="f94a9090bf18c46093e19400fa8003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Vẻ đẹp Thúy Kiều: Sắc sảo mặn mà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Thúy Kiều được miêu tả là một tuyệt sắc giai nhân, vượt trội hơn Thúy Vân.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có vẻ đẹp 'sắc sảo mặn mà', 'khuôn trăng đầy đặn, nét ngài nở nang'.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Không chỉ xinh đẹp, nàng còn tài hoa xuất chúng: 'thông minh vốn sẵn tính trời'.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biết cả cầm, kỳ, thi, họa, đặc biệt là tài đánh đàn và làm thơ.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Vẻ đẹp và tài năng của nàng báo hiệu số phận 'hồng nhan bạc phận'.</a:t>
            </a:r>
          </a:p>
        </p:txBody>
      </p:sp>
      <p:pic>
        <p:nvPicPr>
          <p:cNvPr id="4" name="Picture 3" descr="e0027cf0b6d612229ef95d5cecb869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randomBar dir="horz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Gặp gỡ Kim Trọng: Tình đầu trong sáng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Trong buổi du xuân, Kiều và Kim Trọng tình cờ gặp gỡ nhau.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Kim Trọng là một thư sinh tài hoa, phong nhã, con nhà giàu có.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gặp gỡ định mệnh này đã châm ngòi cho một tình yêu đẹp.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Cả hai đều bị sét đánh bởi vẻ đẹp và tài năng của đối phương.</a:t>
            </a:r>
          </a:p>
        </p:txBody>
      </p:sp>
      <p:pic>
        <p:nvPicPr>
          <p:cNvPr id="4" name="Picture 3" descr="2a75e8c27306cd998766cc000095b9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ver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Tình yêu Kim-Kiều: Lời thề đính ước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Kim Trọng chủ động tìm cách gần gũi Kiều và bày tỏ tình cảm.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Họ trao nhau những lời thề non hẹn biển, nguyện trăm năm hạnh phúc.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Tình yêu của họ là tình yêu tự do, vượt qua khuôn khổ lễ giáo phong kiến.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giai đoạn hạnh phúc nhất trong cuộc đời Kiều, đầy hứa hẹn và mộng mơ.</a:t>
            </a:r>
          </a:p>
        </p:txBody>
      </p:sp>
      <p:pic>
        <p:nvPicPr>
          <p:cNvPr id="4" name="Picture 3" descr="43a6d4268d0eece1e0e5f2346e6735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mb dir="ver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Gia biến: Tai ương bất ngờ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Khi tình yêu đang thăng hoa, tai họa bất ngờ ập đến gia đình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Cha và em trai Vương Quan bị vu oan, bị bắt giữ và tra tấn dã man.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Bọn quan lại hống hách, vơ vét tài sản gia đình.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 đình Kiều rơi vào cảnh tan nát, khốn cùng trong chớp nhoáng.</a:t>
            </a:r>
          </a:p>
        </p:txBody>
      </p:sp>
      <p:pic>
        <p:nvPicPr>
          <p:cNvPr id="4" name="Picture 3" descr="239f7512d75525ba18fc80b0b09ee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bán mình: Hy sinh cứu 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Để cứu cha và em, Kiều quyết định bán mình chuộc tội cho gia đình.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hy sinh tình yêu, tương lai và phẩm hạnh của bản thân.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một hành động cao cả, thể hiện lòng hiếu thảo và đức hy sinh vô bờ bến.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Quyết định này mở đầu cho chuỗi ngày lưu lạc đau khổ của Kiều.</a:t>
            </a:r>
          </a:p>
        </p:txBody>
      </p:sp>
      <p:pic>
        <p:nvPicPr>
          <p:cNvPr id="4" name="Picture 3" descr="e33790cf086d9daee613dbb7fc5cd2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ircl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Lời ủy thác: Duyên với Thúy Vân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Trước khi ra đi, Kiều nhờ Thúy Vân thay mình trả nghĩa Kim Trọng.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trao kỷ vật đính ước cho Vân: chiếc vành, tấm xiêm.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Lời dặn dò đầy nước mắt, thể hiện sự đau khổ và tình chị em sâu nặng.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một quyết định đau lòng, nhưng cần thiết để Kim Trọng có một bến đỗ.</a:t>
            </a:r>
          </a:p>
        </p:txBody>
      </p:sp>
      <p:pic>
        <p:nvPicPr>
          <p:cNvPr id="4" name="Picture 3" descr="d5810b39f4899834242642ea6c06da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Mã Giám Sinh: Bộ mặt xảo trá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Mã Giám Sinh xuất hiện với vẻ ngoài hào nhoáng nhưng bản chất là buôn người.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Hắn lừa Kiều về chốn thanh lâu ở Lâm Truy.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Mã Giám Sinh đại diện cho sự tàn độc, thói đời bất nhân.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gặp gỡ này đánh dấu bước ngoặt lớn, đẩy Kiều vào vòng xoáy của bi kịch.</a:t>
            </a:r>
          </a:p>
        </p:txBody>
      </p:sp>
      <p:pic>
        <p:nvPicPr>
          <p:cNvPr id="4" name="Picture 3" descr="7ae1b1fe222c0babb1ad4de58e1716d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1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Tú Bà: Tay sai của tội 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Tú Bà là chủ chứa, một kẻ tàn nhẫn, lọc lừa.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Bà ta là hiện thân của thế lực đen tối, chà đạp lên nhân phẩm con người.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Tú Bà dùng mọi thủ đoạn để buộc Kiều phải tiếp khách.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đối xử của Tú Bà khiến Kiều rơi vào tận cùng của nỗi đau và ê chề.</a:t>
            </a:r>
          </a:p>
        </p:txBody>
      </p:sp>
      <p:pic>
        <p:nvPicPr>
          <p:cNvPr id="4" name="Picture 3" descr="a1384d7c614f78d910923b2600670af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Thanh lâu lần thứ nhất: Cuộc đời ô nhục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Kiều bị lừa vào lầu xanh, cuộc đời trinh trắng bị vấy bẩn.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đau khổ, tủi nhục tột cùng, tìm cách tự vẫn nhưng không thành.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sự phá vỡ mọi giá trị đạo đức, lễ giáo mà Kiều từng theo đuổi.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phải đối mặt với thực tại phũ phàng, mất đi quyền làm chủ cuộc đời.</a:t>
            </a:r>
          </a:p>
        </p:txBody>
      </p:sp>
      <p:pic>
        <p:nvPicPr>
          <p:cNvPr id="4" name="Picture 3" descr="a9c42a06b0d78834fd54aa757d45b4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Sở Khanh: Lừa đảo, bạc bẽo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Trong lúc Kiều tuyệt vọng, Sở Khanh xuất hiện, hứa hẹn cứu nàng thoát khỏi lầu xanh.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Hắn là một tên lừa đảo, chỉ lợi dụng Kiều để chiếm đoạt tài sản.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Sở Khanh bỏ rơi Kiều sau khi lấy được tiền, khiến nàng thêm đau khổ.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bạc bẽo của Sở Khanh càng làm trầm trọng thêm số phận bi đát của Kiều.</a:t>
            </a:r>
          </a:p>
        </p:txBody>
      </p:sp>
      <p:pic>
        <p:nvPicPr>
          <p:cNvPr id="4" name="Picture 3" descr="cb7daaa4fe6afd6523eba240404566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Gặp Thúc Sinh: Mối tình éo 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Thúc Sinh, một công tử hào hoa, phóng khoáng, đã cảm mến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Anh ta đã chuộc Kiều ra khỏi lầu xanh.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và Thúc Sinh có một khoảng thời gian hạnh phúc ngắn ngủi.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Mối tình này đặt Kiều vào một hoàn cảnh éo le khác, phải đối mặt với vợ của Thúc Sinh.</a:t>
            </a:r>
          </a:p>
        </p:txBody>
      </p:sp>
      <p:pic>
        <p:nvPicPr>
          <p:cNvPr id="4" name="Picture 3" descr="bb41589b51a17f1a3cdb73b49982c2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Hoạn Thư: Ghen tuông và độc 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Hoạn Thư là vợ cả của Thúc Sinh, một người phụ nữ tài sắc nhưng cực kỳ ghen tuông.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phát hiện ra mối quan hệ của chồng và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Hoạn Thư lên kế hoạch trả thù Kiều một cách tàn độc và tinh vi.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trở thành biểu tượng của sự ghen tuông độc địa trong văn học Việt Nam.</a:t>
            </a:r>
          </a:p>
        </p:txBody>
      </p:sp>
      <p:pic>
        <p:nvPicPr>
          <p:cNvPr id="4" name="Picture 3" descr="cf1e641f56bc8f46a064466b4ca9ae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bị đày đọa: Khóa Sinh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Kiều bị Hoạn Thư bắt về, tra tấn và đày đọa vô cùng tàn nhẫn.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bị hành hạ cả thể xác lẫn tinh thần, phải giả làm ni cô Khóa Sinh.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Hoạn Thư ép Kiều viết kinh, bắt nàng chịu đựng nỗi nhục nhã.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giai đoạn Kiều phải chịu đựng sự đày đọa tinh thần khủng khiếp nhất.</a:t>
            </a:r>
          </a:p>
        </p:txBody>
      </p:sp>
      <p:pic>
        <p:nvPicPr>
          <p:cNvPr id="4" name="Picture 3" descr="5197a5feb9df4e2916ca1e1fcb97c9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blinds dir="ver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Chùa Quan Âm: Nương nhờ cửa Phật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Kiều tìm cách trốn thoát khỏi nhà Hoạn Thư và tìm đến chùa Quan Âm.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nương nhờ cửa Phật, mong tìm thấy sự thanh tịnh và bình yên.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Tại đây, Kiều gặp Sư Giác Duyên, một người phụ nữ từ bi.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nơi Kiều tạm lánh khỏi những sóng gió cuộc đời, hướng về tâm linh.</a:t>
            </a:r>
          </a:p>
        </p:txBody>
      </p:sp>
      <p:pic>
        <p:nvPicPr>
          <p:cNvPr id="4" name="Picture 3" descr="7e8d416b928d345e82fe4170b46f5c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Bạc Hạnh: Mối duyên oan nghiệt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Khi ở chùa, Kiều lại gặp Bạc Hạnh, một kẻ buôn người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Bạc Hạnh giả vờ yêu thương, hứa hẹn sẽ đưa Kiều về quê cũ.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Hắn lại lừa Kiều bán vào lầu xanh lần thứ hai.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phận của Kiều lại một lần nữa bị đẩy vào vòng xoáy của bi kịch.</a:t>
            </a:r>
          </a:p>
        </p:txBody>
      </p:sp>
      <p:pic>
        <p:nvPicPr>
          <p:cNvPr id="4" name="Picture 3" descr="cb7daaa4fe6afd6523eba240404566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plus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Thanh lâu lần thứ hai: Tiếp tục lưu lạc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Kiều lại rơi vào cảnh thanh lâu, nỗi đau chồng chất nỗi đau.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phải chịu đựng nỗi nhục nhã, cay đắng về thân phận.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đời dường như không cho nàng một lối thoát, một con đường bình yên.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tái diễn bi kịch thể hiện số phận nghiệt ngã của người phụ nữ trong xã hội cũ.</a:t>
            </a:r>
          </a:p>
        </p:txBody>
      </p:sp>
      <p:pic>
        <p:nvPicPr>
          <p:cNvPr id="4" name="Picture 3" descr="bc30545daa3e49740e753c94ad3280f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Gặp Từ Hải: Anh hùng nghĩa 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Trong lầu xanh, Kiều gặp Từ Hải, một anh hùng cái thế.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Từ Hải là một hải tặc nghĩa hiệp, có tài năng và lòng dũng cảm phi thường.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Anh ta yêu Kiều bằng một tình yêu chân thành và muốn giải thoát nàng.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xuất hiện của Từ Hải mang lại hy vọng và niềm tin cho Kiều.</a:t>
            </a:r>
          </a:p>
        </p:txBody>
      </p:sp>
      <p:pic>
        <p:nvPicPr>
          <p:cNvPr id="4" name="Picture 3" descr="abd62fb2b63621b729bba74ca55353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ircl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Tình yêu Từ-Kiều: Tri kỷ, tri 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Mối tình giữa Kiều và Từ Hải là một mối tình đặc biệt.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Từ Hải không chỉ yêu Kiều mà còn là người hiểu và chia sẻ những nỗi đau của nàng.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Anh ta mang lại cho Kiều sự tôn trọng, lòng tin và được làm chủ cuộc đời mình.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giai đoạn Kiều tìm thấy sự bình yên và hạnh phúc đích thực.</a:t>
            </a:r>
          </a:p>
        </p:txBody>
      </p:sp>
      <p:pic>
        <p:nvPicPr>
          <p:cNvPr id="4" name="Picture 3" descr="7324de7047fd84ced8c313f9f20a4f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Từ Hải ra trận: Chí lớn anh hùng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Từ Hải quyết định rời Kiều để lập nên sự nghiệp lớn, chiêu mộ quân lính.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Anh ta muốn xây dựng một cơ nghiệp riêng, không chấp nhận luật pháp phong kiến.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Từ Hải thể hiện chí khí của một bậc anh hùng, khát vọng tự do và công lý.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đã ủng hộ quyết định của Từ Hải, tin tưởng vào tài năng của chàng.</a:t>
            </a:r>
          </a:p>
        </p:txBody>
      </p:sp>
      <p:pic>
        <p:nvPicPr>
          <p:cNvPr id="4" name="Picture 3" descr="117f86814f6b5d8741e3f1a42901e6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báo ân báo oán: Công lý được thực 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Khi Từ Hải có thế lực, Kiều xin chàng cho mình được báo ân báo oán.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đã trả ơn những người giúp đỡ mình như Đạm Tiên (thông qua việc thờ cúng).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trả thù những kẻ đã hãm hại mình: Mã Giám Sinh, Tú Bà (bị trừng phạt).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khoảnh khắc Kiều được thực thi công lý, đòi lại sự công bằng.</a:t>
            </a:r>
          </a:p>
        </p:txBody>
      </p:sp>
      <p:pic>
        <p:nvPicPr>
          <p:cNvPr id="4" name="Picture 3" descr="ae559e9df3eb7b6850d07a762f2447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l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Hoạn Thư thoát tội: Sự khôn ngoan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Khi đến lượt Hoạn Thư, nàng đã thể hiện sự khôn ngoan, mưu mẹo của mình.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Hoạn Thư lập luận rằng việc nàng hành hạ Kiều là do ghen tuông chính đáng.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xin Kiều tha thứ, mong được sống để sám hối.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đã tha cho Hoạn Thư, thể hiện sự vị tha và lòng nhân ái của nàng.</a:t>
            </a:r>
          </a:p>
        </p:txBody>
      </p:sp>
      <p:pic>
        <p:nvPicPr>
          <p:cNvPr id="4" name="Picture 3" descr="efb6d6c039d8776ebd46928441f323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1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Từ Hải bị đánh úp: Cái chết bi tráng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Tin vào lời khuyên của Kiều, Từ Hải đã nghe theo triều đình đầu hàng.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Nhưng quan quân triều đình đã lừa Từ Hải, đánh úp ông.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Từ Hải đã chiến đấu anh dũng nhưng cuối cùng hy sinh một cách bi tráng.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Cái chết của Từ Hải là một bi kịch lớn, là sự thất bại của công lý.</a:t>
            </a:r>
          </a:p>
        </p:txBody>
      </p:sp>
      <p:pic>
        <p:nvPicPr>
          <p:cNvPr id="4" name="Picture 3" descr="edbb95b223254d3ef8753eebe0c504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dissolv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bị ép gả: Nỗi đau tột cùng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Sau cái chết của Từ Hải, Kiều lại bị triều đình ép gả cho một thổ quan.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phải chịu đựng nỗi nhục nhã, ê chề một lần nữa.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đời dường như không cho Kiều một phút giây bình yên, hạnh phúc.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rơi vào tuyệt vọng, không còn tin vào cuộc sống.</a:t>
            </a:r>
          </a:p>
        </p:txBody>
      </p:sp>
      <p:pic>
        <p:nvPicPr>
          <p:cNvPr id="4" name="Picture 3" descr="7de2525316cdaa5feaa8c80dace35b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Nhảy sông Tiền Đường: Kết thúc bi kịch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Tuyệt vọng trước số phận, Kiều quyết định nhảy sông Tiền Đường tự tử.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muốn kết thúc cuộc đời đầy đau khổ và tủi nhục.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hành động cực đoan nhưng thể hiện sự phản kháng mạnh mẽ của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Việc nhảy sông không chỉ là tìm cái chết mà còn là cách thoát khỏi xã hội bất công.</a:t>
            </a:r>
          </a:p>
        </p:txBody>
      </p:sp>
      <p:pic>
        <p:nvPicPr>
          <p:cNvPr id="4" name="Picture 3" descr="95b350c19c6aa1bb772a0ab5fc50f8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Được cứu vớt: Kỳ duyên gặp lại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May mắn thay, Kiều được vớt lên và cứu sống bởi Sư Giác Duyên.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Sư Giác Duyên đã nhận ra Kiều và đưa nàng về chùa.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một chi tiết mang tính nhân quả, Kiều được cứu nhờ lòng tốt của Sư Giác Duyên.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đoàn tụ này là điểm khởi đầu cho một chương mới trong cuộc đời Kiều.</a:t>
            </a:r>
          </a:p>
        </p:txBody>
      </p:sp>
      <p:pic>
        <p:nvPicPr>
          <p:cNvPr id="4" name="Picture 3" descr="70a39586f62759fa480244d3d2f884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tu hành: Tìm lại bình yên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Sau khi được cứu, Kiều quyết định sống cuộc đời tu hành tại chùa.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tìm kiếm sự thanh tịnh, bình yên trong tâm hồn.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khoảng thời gian Kiều suy ngẫm về cuộc đời, về số phận của mình.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muốn thoát khỏi vòng xoáy của danh lợi, tìm về giá trị chân thật.</a:t>
            </a:r>
          </a:p>
        </p:txBody>
      </p:sp>
      <p:pic>
        <p:nvPicPr>
          <p:cNvPr id="4" name="Picture 3" descr="b7ed4de1cab16879a410ac6d1edd14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Kim Trọng tìm Kiều: Mười lăm năm lận đận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Trong khi đó, Kim Trọng vẫn một lòng tìm kiếm Kiều suốt mười lăm năm.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Anh ta giữ lời thề son sắt với Kiều, không quản ngại khó khăn.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Sau khi cha mẹ Kiều được cứu, Kim Trọng cùng gia đình đi tìm nàng.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kiên trì và lòng chung thủy của Kim Trọng là điểm sáng của câu chuyện.</a:t>
            </a:r>
          </a:p>
        </p:txBody>
      </p:sp>
      <p:pic>
        <p:nvPicPr>
          <p:cNvPr id="4" name="Picture 3" descr="7eede619d2ddbc3d4a8e35166344b7f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 dir="d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Đoàn tụ gia đình: Giọt nước mắt hội ngộ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Cuối cùng, gia đình Kiều, Kim Trọng và Thúy Vân đã tìm thấy Kiều ở chùa.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Cuộc đoàn tụ đầy nước mắt, xúc động sau bao năm xa cách.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Đây là khoảnh khắc hạnh phúc nhất của Kiều, được trở về bên gia đình.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Mọi người cùng nhau ôn lại những kỷ niệm cũ và những nỗi đau đã qua.</a:t>
            </a:r>
          </a:p>
        </p:txBody>
      </p:sp>
      <p:pic>
        <p:nvPicPr>
          <p:cNvPr id="4" name="Picture 3" descr="0f4312af7b5872dfa3583e87edfb9c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1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Kiều từ chối tái hôn: Giữ trọn phẩm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Sau khi đoàn tụ, Kim Trọng muốn nối lại duyên xưa với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Tuy nhiên, Kiều đã từ chối tái hôn, chỉ muốn giữ tình bạn bè, tri kỷ.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Nàng cảm thấy mình không còn xứng đáng sau bao nhiêu năm lưu lạc nơi lầu xanh.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Quyết định của Kiều thể hiện sự trong sạch, giữ trọn phẩm giá của nàng.</a:t>
            </a:r>
          </a:p>
        </p:txBody>
      </p:sp>
      <p:pic>
        <p:nvPicPr>
          <p:cNvPr id="4" name="Picture 3" descr="bc5472b75913dfce2f66ea43a302fbf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vert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Lời bình luận cuối truyện: Kết thúc có hậu?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Phần cuối truyện có một lời bình luận của tác giả về số phận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Kiều tuy đoàn tụ nhưng không thể tìm lại hạnh phúc trọn vẹn.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phận 'hồng nhan bạc phận' vẫn ám ảnh nàng đến cuối cùng.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giả để lại một kết thúc lửng lơ, không hoàn toàn có hậu theo nghĩa truyền thống.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Kết thúc này gợi lên suy tư về định mệnh và giá trị của hạnh phúc.</a:t>
            </a:r>
          </a:p>
        </p:txBody>
      </p:sp>
      <p:pic>
        <p:nvPicPr>
          <p:cNvPr id="4" name="Picture 3" descr="e18790f9a754a6b63fdaac01dce3969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Chủ đề chính: Định mệnh và số phận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Chủ đề định mệnh là một trong những sợi chỉ xuyên suốt Truyện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phận Kiều bị định đoạt bởi trời xanh, bởi những oan khiên từ kiếp trước.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Mọi cố gắng của nàng đều vô vọng trước guồng quay của số phận.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đặt ra câu hỏi về quyền tự do của con người trước định mệnh nghiệt ngã.</a:t>
            </a:r>
          </a:p>
        </p:txBody>
      </p:sp>
      <p:pic>
        <p:nvPicPr>
          <p:cNvPr id="4" name="Picture 3" descr="398fe2845b9477e7c865aa766a7d73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Chủ đề chính: Thân phận người phụ nữ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là tiếng nói xót xa cho thân phận người phụ nữ trong xã hội phong kiến.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Họ phải chịu đựng nhiều bất công, bị chà đạp nhân phẩm.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Vẻ đẹp và tài năng đôi khi lại là nguyên nhân của bi kịch.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lên án tư tưởng trọng nam khinh nữ và sự bất lực của phụ nữ.</a:t>
            </a:r>
          </a:p>
        </p:txBody>
      </p:sp>
      <p:pic>
        <p:nvPicPr>
          <p:cNvPr id="4" name="Picture 3" descr="dbb1e3dad1765ae116409409db8b10a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Chủ đề chính: Lòng hiếu thảo và tình yêu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Lòng hiếu thảo của Kiều đối với cha mẹ là động lực chính cho hành động của nàng.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Tình yêu của Kiều dành cho Kim Trọng là tình yêu trong sáng, thủy chung.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ca ngợi những giá trị đạo đức truyền thống tốt đẹp.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Tuy nhiên, Kiều cũng phải hy sinh tình yêu vì chữ hiếu.</a:t>
            </a:r>
          </a:p>
        </p:txBody>
      </p:sp>
      <p:pic>
        <p:nvPicPr>
          <p:cNvPr id="4" name="Picture 3" descr="8c75f339cc7c835cd0efdbd544227b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Chủ đề chính: Tố cáo xã hội phong kiến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phơi bày bộ mặt thối nát, tàn bạo của xã hội phong kiến.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Bọn quan lại tham lam, độc ác, coi thường mạng người.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Đồng tiền có thể mua chuộc tất cả, chà đạp lên phẩm giá con người.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Xã hội là một guồng máy nghiệt ngã, đẩy người tốt vào con đường tội lỗi.</a:t>
            </a:r>
          </a:p>
        </p:txBody>
      </p:sp>
      <p:pic>
        <p:nvPicPr>
          <p:cNvPr id="4" name="Picture 3" descr="af829a79fbf76c282d98dc93d0e0b6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blinds dir="horz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Giá trị ngôn ngữ: Tuyệt tác tiếng Việt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là một kiệt tác về ngôn ngữ tiếng Việt.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Nguyễn Du đã sử dụng kho tàng từ vựng Hán Việt và thuần Việt một cách điêu luyện.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Ngôn ngữ giàu hình ảnh, biểu cảm, tinh tế trong việc miêu tả nội tâm.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Tác phẩm đã góp phần định hình và làm giàu cho ngôn ngữ văn học Việt Nam.</a:t>
            </a:r>
          </a:p>
        </p:txBody>
      </p:sp>
      <p:pic>
        <p:nvPicPr>
          <p:cNvPr id="4" name="Picture 3" descr="16409dff696bd20cbb3d77ccd8377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rộng rãi: Ca dao, tục ngữ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đã đi sâu vào đời sống văn hóa của người Việt.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câu thơ đã trở thành ca dao, tục ngữ, thành ngữ.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Nó được truyền miệng, học thuộc, ngâm ngợi trong mọi tầng lớp xã hội.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Truyện Kiều là một phần không thể thiếu trong di sản văn học dân tộc.</a:t>
            </a:r>
          </a:p>
        </p:txBody>
      </p:sp>
      <p:pic>
        <p:nvPicPr>
          <p:cNvPr id="4" name="Picture 3" descr="64df4363c399ea30a76a78c4a3db3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Văn hóa dân gian: Bói Kiều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Một hình thức văn hóa đặc biệt liên quan đến Truyện Kiều là bói Kiều.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Người ta thường mở ngẫu nhiên một trang Truyện Kiều để tìm lời giải đáp cho vận mệnh.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Mỗi câu thơ được xem như một lời tiên tri, một lời nhắn nhủ.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Bói Kiều thể hiện sự gắn bó sâu sắc của tác phẩm với tâm linh và niềm tin của người Việt.</a:t>
            </a:r>
          </a:p>
        </p:txBody>
      </p:sp>
      <p:pic>
        <p:nvPicPr>
          <p:cNvPr id="4" name="Picture 3" descr="398fe2845b9477e7c865aa766a7d73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Giá trị giáo dục: Bài học cuộc đời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không chỉ là văn học mà còn là một bài học sâu sắc về cuộc đời.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Dạy về lòng nhân ái, sự vị tha, và sức mạnh của tình yêu thương.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Khơi gợi ý thức về công lý, sự bình đẳng và khát vọng tự do.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Giúp người đọc sống nhân ái hơn, biết trân trọng giá trị cuộc sống.</a:t>
            </a:r>
          </a:p>
        </p:txBody>
      </p:sp>
      <p:pic>
        <p:nvPicPr>
          <p:cNvPr id="4" name="Picture 3" descr="a649237de8fa7835fca2f72434a1fe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Truyện Kiều trong nghệ thuật khác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đã được chuyển thể thành nhiều loại hình nghệ thuật khác nhau.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Sân khấu: Chèo, cải lương, kịch nói.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Điện ảnh: Phim truyện, phim hoạt hình.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Hội họa, âm nhạc...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Điều này chứng tỏ sức sống mãnh liệt và sức lan tỏa của tác phẩm.</a:t>
            </a:r>
          </a:p>
        </p:txBody>
      </p:sp>
      <p:pic>
        <p:nvPicPr>
          <p:cNvPr id="4" name="Picture 3" descr="3a4c438b9c12f5d58013ca9928473d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Sức sống vượt thời gian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vẫn giữ nguyên giá trị và sức hấp dẫn cho đến ngày nay.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Dù đã trải qua hàng trăm năm, tác phẩm vẫn chạm đến trái tim người đọc.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Những vấn đề về tình yêu, công lý, số phận con người vẫn còn nguyên giá trị.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Truyện Kiều là minh chứng cho tài năng vĩ đại của Nguyễn Du và vẻ đẹp của văn học Việt Nam.</a:t>
            </a:r>
          </a:p>
        </p:txBody>
      </p:sp>
      <p:pic>
        <p:nvPicPr>
          <p:cNvPr id="4" name="Picture 3" descr="05be463db141711feaee2482fb7ae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Kết luận: Hào khí dân tộc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Truyện Kiều không chỉ là một tác phẩm văn học mà còn là biểu tượng của tinh hoa dân tộc.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Nó thể hiện tâm hồn, trí tuệ và khát vọng của người Việt.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Là niềm tự hào của nền văn hóa Việt Nam, được bạn bè quốc tế ngưỡng mộ.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Vĩnh viễn là một phần không thể thiếu trong di sản văn hóa tinh thần của dân tộc.</a:t>
            </a:r>
          </a:p>
        </p:txBody>
      </p:sp>
      <p:pic>
        <p:nvPicPr>
          <p:cNvPr id="4" name="Picture 3" descr="84d3ee354954d2b2c555c1cf360f18f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randomBar dir="horz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2026-03-20T10:26:21Z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